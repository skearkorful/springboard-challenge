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2"/>
  </p:notesMasterIdLst>
  <p:sldIdLst>
    <p:sldId id="261" r:id="rId2"/>
    <p:sldId id="263" r:id="rId3"/>
    <p:sldId id="262" r:id="rId4"/>
    <p:sldId id="257" r:id="rId5"/>
    <p:sldId id="258" r:id="rId6"/>
    <p:sldId id="259" r:id="rId7"/>
    <p:sldId id="264" r:id="rId8"/>
    <p:sldId id="265" r:id="rId9"/>
    <p:sldId id="260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4B1FF9-687C-4661-BC97-0C7588D7C089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ED3521D-A594-4BDE-BB18-BADBE183B9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Investing in infrastructure </a:t>
          </a:r>
        </a:p>
      </dgm:t>
    </dgm:pt>
    <dgm:pt modelId="{895ADCC4-AEF7-4DCE-9F2D-B1FF0CEAAE56}" type="parTrans" cxnId="{84E2D415-8D4F-47D0-B4C5-AA939F502A33}">
      <dgm:prSet/>
      <dgm:spPr/>
      <dgm:t>
        <a:bodyPr/>
        <a:lstStyle/>
        <a:p>
          <a:endParaRPr lang="en-US"/>
        </a:p>
      </dgm:t>
    </dgm:pt>
    <dgm:pt modelId="{74F21CA0-63DE-4FAE-A80E-1BB1672EA9A5}" type="sibTrans" cxnId="{84E2D415-8D4F-47D0-B4C5-AA939F502A33}">
      <dgm:prSet/>
      <dgm:spPr/>
      <dgm:t>
        <a:bodyPr/>
        <a:lstStyle/>
        <a:p>
          <a:endParaRPr lang="en-US"/>
        </a:p>
      </dgm:t>
    </dgm:pt>
    <dgm:pt modelId="{B810AC67-493E-4F78-A66A-8F8D40B808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Regular monitoring of the geospatial metrics</a:t>
          </a:r>
        </a:p>
      </dgm:t>
    </dgm:pt>
    <dgm:pt modelId="{0F5D3F02-618F-452A-B3BF-3F921967557F}" type="parTrans" cxnId="{B48DE6C1-07D2-4A35-920A-EB76B9DF80A6}">
      <dgm:prSet/>
      <dgm:spPr/>
      <dgm:t>
        <a:bodyPr/>
        <a:lstStyle/>
        <a:p>
          <a:endParaRPr lang="en-US"/>
        </a:p>
      </dgm:t>
    </dgm:pt>
    <dgm:pt modelId="{9375E848-06D8-4A97-A0D8-A6990496BB23}" type="sibTrans" cxnId="{B48DE6C1-07D2-4A35-920A-EB76B9DF80A6}">
      <dgm:prSet/>
      <dgm:spPr/>
      <dgm:t>
        <a:bodyPr/>
        <a:lstStyle/>
        <a:p>
          <a:endParaRPr lang="en-US"/>
        </a:p>
      </dgm:t>
    </dgm:pt>
    <dgm:pt modelId="{0C23A50E-C2CB-420D-AEE6-14970B9F2A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Customer engagement</a:t>
          </a:r>
        </a:p>
      </dgm:t>
    </dgm:pt>
    <dgm:pt modelId="{C8B53C44-9483-4276-9376-7B2D0506DFEC}" type="parTrans" cxnId="{583ABE9C-3809-48B0-940B-DAD191CCC6CE}">
      <dgm:prSet/>
      <dgm:spPr/>
      <dgm:t>
        <a:bodyPr/>
        <a:lstStyle/>
        <a:p>
          <a:endParaRPr lang="en-US"/>
        </a:p>
      </dgm:t>
    </dgm:pt>
    <dgm:pt modelId="{1C69E371-5ED0-4A57-93F7-F3EA1A0F88F3}" type="sibTrans" cxnId="{583ABE9C-3809-48B0-940B-DAD191CCC6CE}">
      <dgm:prSet/>
      <dgm:spPr/>
      <dgm:t>
        <a:bodyPr/>
        <a:lstStyle/>
        <a:p>
          <a:endParaRPr lang="en-US"/>
        </a:p>
      </dgm:t>
    </dgm:pt>
    <dgm:pt modelId="{22B3B693-9CA7-4E3F-AA6E-DE57E14DF65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Consider rolling out loyalty programs</a:t>
          </a:r>
        </a:p>
      </dgm:t>
    </dgm:pt>
    <dgm:pt modelId="{C0A65CFD-4E5D-4BDF-AC37-CE146DF7C2F9}" type="parTrans" cxnId="{51C71859-852E-4E62-9218-B0C8429E5051}">
      <dgm:prSet/>
      <dgm:spPr/>
      <dgm:t>
        <a:bodyPr/>
        <a:lstStyle/>
        <a:p>
          <a:endParaRPr lang="en-US"/>
        </a:p>
      </dgm:t>
    </dgm:pt>
    <dgm:pt modelId="{F3C47FF2-A980-4600-8658-7BDD6D146170}" type="sibTrans" cxnId="{51C71859-852E-4E62-9218-B0C8429E5051}">
      <dgm:prSet/>
      <dgm:spPr/>
      <dgm:t>
        <a:bodyPr/>
        <a:lstStyle/>
        <a:p>
          <a:endParaRPr lang="en-US"/>
        </a:p>
      </dgm:t>
    </dgm:pt>
    <dgm:pt modelId="{D2E8A4D1-3691-450B-92E0-22344D6BB824}" type="pres">
      <dgm:prSet presAssocID="{354B1FF9-687C-4661-BC97-0C7588D7C089}" presName="root" presStyleCnt="0">
        <dgm:presLayoutVars>
          <dgm:dir/>
          <dgm:resizeHandles val="exact"/>
        </dgm:presLayoutVars>
      </dgm:prSet>
      <dgm:spPr/>
    </dgm:pt>
    <dgm:pt modelId="{0C4CE929-D19B-4E70-87B2-CDD02240D059}" type="pres">
      <dgm:prSet presAssocID="{6ED3521D-A594-4BDE-BB18-BADBE183B9BB}" presName="compNode" presStyleCnt="0"/>
      <dgm:spPr/>
    </dgm:pt>
    <dgm:pt modelId="{B5CE7319-8D36-43E8-9888-B1D90A1560AC}" type="pres">
      <dgm:prSet presAssocID="{6ED3521D-A594-4BDE-BB18-BADBE183B9BB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1330C485-3C74-4D98-A398-654D948D0DE1}" type="pres">
      <dgm:prSet presAssocID="{6ED3521D-A594-4BDE-BB18-BADBE183B9BB}" presName="spaceRect" presStyleCnt="0"/>
      <dgm:spPr/>
    </dgm:pt>
    <dgm:pt modelId="{55DBA7F6-D472-48D6-AFE3-CC8D8D57C6EE}" type="pres">
      <dgm:prSet presAssocID="{6ED3521D-A594-4BDE-BB18-BADBE183B9BB}" presName="textRect" presStyleLbl="revTx" presStyleIdx="0" presStyleCnt="4">
        <dgm:presLayoutVars>
          <dgm:chMax val="1"/>
          <dgm:chPref val="1"/>
        </dgm:presLayoutVars>
      </dgm:prSet>
      <dgm:spPr/>
    </dgm:pt>
    <dgm:pt modelId="{6D7A43C4-F325-41D3-BAE6-CBFD30B8A6BE}" type="pres">
      <dgm:prSet presAssocID="{74F21CA0-63DE-4FAE-A80E-1BB1672EA9A5}" presName="sibTrans" presStyleCnt="0"/>
      <dgm:spPr/>
    </dgm:pt>
    <dgm:pt modelId="{65AD3062-BD35-44A4-92C5-345EF1650A24}" type="pres">
      <dgm:prSet presAssocID="{B810AC67-493E-4F78-A66A-8F8D40B808A5}" presName="compNode" presStyleCnt="0"/>
      <dgm:spPr/>
    </dgm:pt>
    <dgm:pt modelId="{CE930971-6961-4958-BFCC-1DAE303C443B}" type="pres">
      <dgm:prSet presAssocID="{B810AC67-493E-4F78-A66A-8F8D40B808A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p with pin"/>
        </a:ext>
      </dgm:extLst>
    </dgm:pt>
    <dgm:pt modelId="{49E5DF37-F866-4B4A-9FE9-68AA180249E5}" type="pres">
      <dgm:prSet presAssocID="{B810AC67-493E-4F78-A66A-8F8D40B808A5}" presName="spaceRect" presStyleCnt="0"/>
      <dgm:spPr/>
    </dgm:pt>
    <dgm:pt modelId="{209F4E81-9962-4EE0-9B43-D224EF34C7AD}" type="pres">
      <dgm:prSet presAssocID="{B810AC67-493E-4F78-A66A-8F8D40B808A5}" presName="textRect" presStyleLbl="revTx" presStyleIdx="1" presStyleCnt="4">
        <dgm:presLayoutVars>
          <dgm:chMax val="1"/>
          <dgm:chPref val="1"/>
        </dgm:presLayoutVars>
      </dgm:prSet>
      <dgm:spPr/>
    </dgm:pt>
    <dgm:pt modelId="{62ABF7E7-7D7A-4373-8F9F-2AA40528BC8A}" type="pres">
      <dgm:prSet presAssocID="{9375E848-06D8-4A97-A0D8-A6990496BB23}" presName="sibTrans" presStyleCnt="0"/>
      <dgm:spPr/>
    </dgm:pt>
    <dgm:pt modelId="{07D53BFF-2EA3-453C-8DF4-0BF3D7D093C8}" type="pres">
      <dgm:prSet presAssocID="{0C23A50E-C2CB-420D-AEE6-14970B9F2A00}" presName="compNode" presStyleCnt="0"/>
      <dgm:spPr/>
    </dgm:pt>
    <dgm:pt modelId="{3196FF4B-5A2A-4E82-851E-48F9D0452B65}" type="pres">
      <dgm:prSet presAssocID="{0C23A50E-C2CB-420D-AEE6-14970B9F2A00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E23ECFB2-F763-4DF3-BE14-15B684AEA1CA}" type="pres">
      <dgm:prSet presAssocID="{0C23A50E-C2CB-420D-AEE6-14970B9F2A00}" presName="spaceRect" presStyleCnt="0"/>
      <dgm:spPr/>
    </dgm:pt>
    <dgm:pt modelId="{EE414097-F082-45CA-BBF9-AF10F278F917}" type="pres">
      <dgm:prSet presAssocID="{0C23A50E-C2CB-420D-AEE6-14970B9F2A00}" presName="textRect" presStyleLbl="revTx" presStyleIdx="2" presStyleCnt="4">
        <dgm:presLayoutVars>
          <dgm:chMax val="1"/>
          <dgm:chPref val="1"/>
        </dgm:presLayoutVars>
      </dgm:prSet>
      <dgm:spPr/>
    </dgm:pt>
    <dgm:pt modelId="{EFF17FE5-C48D-4188-8E99-F9AB1F8FE24D}" type="pres">
      <dgm:prSet presAssocID="{1C69E371-5ED0-4A57-93F7-F3EA1A0F88F3}" presName="sibTrans" presStyleCnt="0"/>
      <dgm:spPr/>
    </dgm:pt>
    <dgm:pt modelId="{5827C955-8372-4329-8D1D-37AD73227C94}" type="pres">
      <dgm:prSet presAssocID="{22B3B693-9CA7-4E3F-AA6E-DE57E14DF654}" presName="compNode" presStyleCnt="0"/>
      <dgm:spPr/>
    </dgm:pt>
    <dgm:pt modelId="{45989935-8076-40B9-83E7-1E8FB910FD7A}" type="pres">
      <dgm:prSet presAssocID="{22B3B693-9CA7-4E3F-AA6E-DE57E14DF654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0B00B5A-D867-4CD3-A109-87523B6185B5}" type="pres">
      <dgm:prSet presAssocID="{22B3B693-9CA7-4E3F-AA6E-DE57E14DF654}" presName="spaceRect" presStyleCnt="0"/>
      <dgm:spPr/>
    </dgm:pt>
    <dgm:pt modelId="{EBBBF0B7-C140-4C7E-A12A-A2B4D0DBA7AC}" type="pres">
      <dgm:prSet presAssocID="{22B3B693-9CA7-4E3F-AA6E-DE57E14DF65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4E2D415-8D4F-47D0-B4C5-AA939F502A33}" srcId="{354B1FF9-687C-4661-BC97-0C7588D7C089}" destId="{6ED3521D-A594-4BDE-BB18-BADBE183B9BB}" srcOrd="0" destOrd="0" parTransId="{895ADCC4-AEF7-4DCE-9F2D-B1FF0CEAAE56}" sibTransId="{74F21CA0-63DE-4FAE-A80E-1BB1672EA9A5}"/>
    <dgm:cxn modelId="{CA829F27-44C5-41BC-879E-1FDDC2DB6177}" type="presOf" srcId="{B810AC67-493E-4F78-A66A-8F8D40B808A5}" destId="{209F4E81-9962-4EE0-9B43-D224EF34C7AD}" srcOrd="0" destOrd="0" presId="urn:microsoft.com/office/officeart/2018/2/layout/IconLabelList"/>
    <dgm:cxn modelId="{77DFDB3E-7A85-430F-8293-6017E6442E79}" type="presOf" srcId="{0C23A50E-C2CB-420D-AEE6-14970B9F2A00}" destId="{EE414097-F082-45CA-BBF9-AF10F278F917}" srcOrd="0" destOrd="0" presId="urn:microsoft.com/office/officeart/2018/2/layout/IconLabelList"/>
    <dgm:cxn modelId="{5FC8384D-CA3F-450E-8158-8C144F8E9748}" type="presOf" srcId="{22B3B693-9CA7-4E3F-AA6E-DE57E14DF654}" destId="{EBBBF0B7-C140-4C7E-A12A-A2B4D0DBA7AC}" srcOrd="0" destOrd="0" presId="urn:microsoft.com/office/officeart/2018/2/layout/IconLabelList"/>
    <dgm:cxn modelId="{51C71859-852E-4E62-9218-B0C8429E5051}" srcId="{354B1FF9-687C-4661-BC97-0C7588D7C089}" destId="{22B3B693-9CA7-4E3F-AA6E-DE57E14DF654}" srcOrd="3" destOrd="0" parTransId="{C0A65CFD-4E5D-4BDF-AC37-CE146DF7C2F9}" sibTransId="{F3C47FF2-A980-4600-8658-7BDD6D146170}"/>
    <dgm:cxn modelId="{1E44F79A-AEF4-4B5F-9878-5D4A41C2FB8C}" type="presOf" srcId="{354B1FF9-687C-4661-BC97-0C7588D7C089}" destId="{D2E8A4D1-3691-450B-92E0-22344D6BB824}" srcOrd="0" destOrd="0" presId="urn:microsoft.com/office/officeart/2018/2/layout/IconLabelList"/>
    <dgm:cxn modelId="{583ABE9C-3809-48B0-940B-DAD191CCC6CE}" srcId="{354B1FF9-687C-4661-BC97-0C7588D7C089}" destId="{0C23A50E-C2CB-420D-AEE6-14970B9F2A00}" srcOrd="2" destOrd="0" parTransId="{C8B53C44-9483-4276-9376-7B2D0506DFEC}" sibTransId="{1C69E371-5ED0-4A57-93F7-F3EA1A0F88F3}"/>
    <dgm:cxn modelId="{B48DE6C1-07D2-4A35-920A-EB76B9DF80A6}" srcId="{354B1FF9-687C-4661-BC97-0C7588D7C089}" destId="{B810AC67-493E-4F78-A66A-8F8D40B808A5}" srcOrd="1" destOrd="0" parTransId="{0F5D3F02-618F-452A-B3BF-3F921967557F}" sibTransId="{9375E848-06D8-4A97-A0D8-A6990496BB23}"/>
    <dgm:cxn modelId="{CC0A99E4-9EF3-48AA-A798-F433DC9952E3}" type="presOf" srcId="{6ED3521D-A594-4BDE-BB18-BADBE183B9BB}" destId="{55DBA7F6-D472-48D6-AFE3-CC8D8D57C6EE}" srcOrd="0" destOrd="0" presId="urn:microsoft.com/office/officeart/2018/2/layout/IconLabelList"/>
    <dgm:cxn modelId="{8AE7C703-BC80-494A-8B0C-3BFC9FCB44F3}" type="presParOf" srcId="{D2E8A4D1-3691-450B-92E0-22344D6BB824}" destId="{0C4CE929-D19B-4E70-87B2-CDD02240D059}" srcOrd="0" destOrd="0" presId="urn:microsoft.com/office/officeart/2018/2/layout/IconLabelList"/>
    <dgm:cxn modelId="{383D4D09-7DAE-4872-8952-17AC8BBF0337}" type="presParOf" srcId="{0C4CE929-D19B-4E70-87B2-CDD02240D059}" destId="{B5CE7319-8D36-43E8-9888-B1D90A1560AC}" srcOrd="0" destOrd="0" presId="urn:microsoft.com/office/officeart/2018/2/layout/IconLabelList"/>
    <dgm:cxn modelId="{4D5AB36B-09AF-4944-AA09-7349C4FF6269}" type="presParOf" srcId="{0C4CE929-D19B-4E70-87B2-CDD02240D059}" destId="{1330C485-3C74-4D98-A398-654D948D0DE1}" srcOrd="1" destOrd="0" presId="urn:microsoft.com/office/officeart/2018/2/layout/IconLabelList"/>
    <dgm:cxn modelId="{C91CD4E7-90EE-488E-BD7B-2172561EF8FD}" type="presParOf" srcId="{0C4CE929-D19B-4E70-87B2-CDD02240D059}" destId="{55DBA7F6-D472-48D6-AFE3-CC8D8D57C6EE}" srcOrd="2" destOrd="0" presId="urn:microsoft.com/office/officeart/2018/2/layout/IconLabelList"/>
    <dgm:cxn modelId="{4400BD35-5403-4C68-A33B-8789DE309777}" type="presParOf" srcId="{D2E8A4D1-3691-450B-92E0-22344D6BB824}" destId="{6D7A43C4-F325-41D3-BAE6-CBFD30B8A6BE}" srcOrd="1" destOrd="0" presId="urn:microsoft.com/office/officeart/2018/2/layout/IconLabelList"/>
    <dgm:cxn modelId="{0406FBF6-CEA4-4F5B-9B6A-946B9D7392E7}" type="presParOf" srcId="{D2E8A4D1-3691-450B-92E0-22344D6BB824}" destId="{65AD3062-BD35-44A4-92C5-345EF1650A24}" srcOrd="2" destOrd="0" presId="urn:microsoft.com/office/officeart/2018/2/layout/IconLabelList"/>
    <dgm:cxn modelId="{A6679B19-F86A-4207-868D-03E1FB33616E}" type="presParOf" srcId="{65AD3062-BD35-44A4-92C5-345EF1650A24}" destId="{CE930971-6961-4958-BFCC-1DAE303C443B}" srcOrd="0" destOrd="0" presId="urn:microsoft.com/office/officeart/2018/2/layout/IconLabelList"/>
    <dgm:cxn modelId="{129CF50B-3ADB-411B-BFAE-70875D71F08B}" type="presParOf" srcId="{65AD3062-BD35-44A4-92C5-345EF1650A24}" destId="{49E5DF37-F866-4B4A-9FE9-68AA180249E5}" srcOrd="1" destOrd="0" presId="urn:microsoft.com/office/officeart/2018/2/layout/IconLabelList"/>
    <dgm:cxn modelId="{6E48F497-1555-47D0-94D3-3C7977DD8F85}" type="presParOf" srcId="{65AD3062-BD35-44A4-92C5-345EF1650A24}" destId="{209F4E81-9962-4EE0-9B43-D224EF34C7AD}" srcOrd="2" destOrd="0" presId="urn:microsoft.com/office/officeart/2018/2/layout/IconLabelList"/>
    <dgm:cxn modelId="{DDED9F24-5865-4C86-A43C-BAC2398DACF9}" type="presParOf" srcId="{D2E8A4D1-3691-450B-92E0-22344D6BB824}" destId="{62ABF7E7-7D7A-4373-8F9F-2AA40528BC8A}" srcOrd="3" destOrd="0" presId="urn:microsoft.com/office/officeart/2018/2/layout/IconLabelList"/>
    <dgm:cxn modelId="{6945FECA-2E42-45AC-976C-D016F62AFEF2}" type="presParOf" srcId="{D2E8A4D1-3691-450B-92E0-22344D6BB824}" destId="{07D53BFF-2EA3-453C-8DF4-0BF3D7D093C8}" srcOrd="4" destOrd="0" presId="urn:microsoft.com/office/officeart/2018/2/layout/IconLabelList"/>
    <dgm:cxn modelId="{FA07254E-66E1-476A-B7BF-91515B663BD6}" type="presParOf" srcId="{07D53BFF-2EA3-453C-8DF4-0BF3D7D093C8}" destId="{3196FF4B-5A2A-4E82-851E-48F9D0452B65}" srcOrd="0" destOrd="0" presId="urn:microsoft.com/office/officeart/2018/2/layout/IconLabelList"/>
    <dgm:cxn modelId="{AC890D5C-A80F-4551-B620-862EF0648831}" type="presParOf" srcId="{07D53BFF-2EA3-453C-8DF4-0BF3D7D093C8}" destId="{E23ECFB2-F763-4DF3-BE14-15B684AEA1CA}" srcOrd="1" destOrd="0" presId="urn:microsoft.com/office/officeart/2018/2/layout/IconLabelList"/>
    <dgm:cxn modelId="{F9602B48-48CD-4F44-B54F-8A2F1461B26E}" type="presParOf" srcId="{07D53BFF-2EA3-453C-8DF4-0BF3D7D093C8}" destId="{EE414097-F082-45CA-BBF9-AF10F278F917}" srcOrd="2" destOrd="0" presId="urn:microsoft.com/office/officeart/2018/2/layout/IconLabelList"/>
    <dgm:cxn modelId="{BC59D052-4410-4898-80F0-1CD9C0335EF7}" type="presParOf" srcId="{D2E8A4D1-3691-450B-92E0-22344D6BB824}" destId="{EFF17FE5-C48D-4188-8E99-F9AB1F8FE24D}" srcOrd="5" destOrd="0" presId="urn:microsoft.com/office/officeart/2018/2/layout/IconLabelList"/>
    <dgm:cxn modelId="{907DF330-29C5-4C56-A0B4-D1F81A767F27}" type="presParOf" srcId="{D2E8A4D1-3691-450B-92E0-22344D6BB824}" destId="{5827C955-8372-4329-8D1D-37AD73227C94}" srcOrd="6" destOrd="0" presId="urn:microsoft.com/office/officeart/2018/2/layout/IconLabelList"/>
    <dgm:cxn modelId="{362A822A-EF38-4E38-A05B-368C45C48F97}" type="presParOf" srcId="{5827C955-8372-4329-8D1D-37AD73227C94}" destId="{45989935-8076-40B9-83E7-1E8FB910FD7A}" srcOrd="0" destOrd="0" presId="urn:microsoft.com/office/officeart/2018/2/layout/IconLabelList"/>
    <dgm:cxn modelId="{09DCA8F5-E01C-418A-BA16-7BB5FB10035A}" type="presParOf" srcId="{5827C955-8372-4329-8D1D-37AD73227C94}" destId="{B0B00B5A-D867-4CD3-A109-87523B6185B5}" srcOrd="1" destOrd="0" presId="urn:microsoft.com/office/officeart/2018/2/layout/IconLabelList"/>
    <dgm:cxn modelId="{A06A0E65-73D5-468B-86F4-D7AAD8048484}" type="presParOf" srcId="{5827C955-8372-4329-8D1D-37AD73227C94}" destId="{EBBBF0B7-C140-4C7E-A12A-A2B4D0DBA7A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CE7319-8D36-43E8-9888-B1D90A1560AC}">
      <dsp:nvSpPr>
        <dsp:cNvPr id="0" name=""/>
        <dsp:cNvSpPr/>
      </dsp:nvSpPr>
      <dsp:spPr>
        <a:xfrm>
          <a:off x="632570" y="391878"/>
          <a:ext cx="928956" cy="9289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DBA7F6-D472-48D6-AFE3-CC8D8D57C6EE}">
      <dsp:nvSpPr>
        <dsp:cNvPr id="0" name=""/>
        <dsp:cNvSpPr/>
      </dsp:nvSpPr>
      <dsp:spPr>
        <a:xfrm>
          <a:off x="64875" y="1634318"/>
          <a:ext cx="206434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Investing in infrastructure </a:t>
          </a:r>
        </a:p>
      </dsp:txBody>
      <dsp:txXfrm>
        <a:off x="64875" y="1634318"/>
        <a:ext cx="2064347" cy="720000"/>
      </dsp:txXfrm>
    </dsp:sp>
    <dsp:sp modelId="{CE930971-6961-4958-BFCC-1DAE303C443B}">
      <dsp:nvSpPr>
        <dsp:cNvPr id="0" name=""/>
        <dsp:cNvSpPr/>
      </dsp:nvSpPr>
      <dsp:spPr>
        <a:xfrm>
          <a:off x="3058178" y="391878"/>
          <a:ext cx="928956" cy="9289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9F4E81-9962-4EE0-9B43-D224EF34C7AD}">
      <dsp:nvSpPr>
        <dsp:cNvPr id="0" name=""/>
        <dsp:cNvSpPr/>
      </dsp:nvSpPr>
      <dsp:spPr>
        <a:xfrm>
          <a:off x="2490483" y="1634318"/>
          <a:ext cx="206434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Regular monitoring of the geospatial metrics</a:t>
          </a:r>
        </a:p>
      </dsp:txBody>
      <dsp:txXfrm>
        <a:off x="2490483" y="1634318"/>
        <a:ext cx="2064347" cy="720000"/>
      </dsp:txXfrm>
    </dsp:sp>
    <dsp:sp modelId="{3196FF4B-5A2A-4E82-851E-48F9D0452B65}">
      <dsp:nvSpPr>
        <dsp:cNvPr id="0" name=""/>
        <dsp:cNvSpPr/>
      </dsp:nvSpPr>
      <dsp:spPr>
        <a:xfrm>
          <a:off x="632570" y="2870405"/>
          <a:ext cx="928956" cy="9289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414097-F082-45CA-BBF9-AF10F278F917}">
      <dsp:nvSpPr>
        <dsp:cNvPr id="0" name=""/>
        <dsp:cNvSpPr/>
      </dsp:nvSpPr>
      <dsp:spPr>
        <a:xfrm>
          <a:off x="64875" y="4112845"/>
          <a:ext cx="206434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Customer engagement</a:t>
          </a:r>
        </a:p>
      </dsp:txBody>
      <dsp:txXfrm>
        <a:off x="64875" y="4112845"/>
        <a:ext cx="2064347" cy="720000"/>
      </dsp:txXfrm>
    </dsp:sp>
    <dsp:sp modelId="{45989935-8076-40B9-83E7-1E8FB910FD7A}">
      <dsp:nvSpPr>
        <dsp:cNvPr id="0" name=""/>
        <dsp:cNvSpPr/>
      </dsp:nvSpPr>
      <dsp:spPr>
        <a:xfrm>
          <a:off x="3058178" y="2870405"/>
          <a:ext cx="928956" cy="9289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BBF0B7-C140-4C7E-A12A-A2B4D0DBA7AC}">
      <dsp:nvSpPr>
        <dsp:cNvPr id="0" name=""/>
        <dsp:cNvSpPr/>
      </dsp:nvSpPr>
      <dsp:spPr>
        <a:xfrm>
          <a:off x="2490483" y="4112845"/>
          <a:ext cx="206434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Consider rolling out loyalty programs</a:t>
          </a:r>
        </a:p>
      </dsp:txBody>
      <dsp:txXfrm>
        <a:off x="2490483" y="4112845"/>
        <a:ext cx="2064347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A9243F-4D83-4F48-AE8A-9C9B0545A54F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CF6496-AFEF-4079-8381-9D95BC5E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574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F6496-AFEF-4079-8381-9D95BC5E08B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735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CDA61-016B-457D-B698-18EE5200A19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04201-FA7E-489A-A835-1B0701B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064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CDA61-016B-457D-B698-18EE5200A19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04201-FA7E-489A-A835-1B0701B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167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CDA61-016B-457D-B698-18EE5200A19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04201-FA7E-489A-A835-1B0701B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084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CDA61-016B-457D-B698-18EE5200A19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04201-FA7E-489A-A835-1B0701B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40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CDA61-016B-457D-B698-18EE5200A19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04201-FA7E-489A-A835-1B0701B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63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CDA61-016B-457D-B698-18EE5200A19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04201-FA7E-489A-A835-1B0701B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983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CDA61-016B-457D-B698-18EE5200A19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04201-FA7E-489A-A835-1B0701B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927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CDA61-016B-457D-B698-18EE5200A19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04201-FA7E-489A-A835-1B0701B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89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CDA61-016B-457D-B698-18EE5200A19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04201-FA7E-489A-A835-1B0701B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21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CDA61-016B-457D-B698-18EE5200A19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04201-FA7E-489A-A835-1B0701B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741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CDA61-016B-457D-B698-18EE5200A19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04201-FA7E-489A-A835-1B0701BB5BC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930193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CDA61-016B-457D-B698-18EE5200A19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04201-FA7E-489A-A835-1B0701B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1638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CDA61-016B-457D-B698-18EE5200A19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04201-FA7E-489A-A835-1B0701BB5BCA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50879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CDA61-016B-457D-B698-18EE5200A19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04201-FA7E-489A-A835-1B0701B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3157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CDA61-016B-457D-B698-18EE5200A19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04201-FA7E-489A-A835-1B0701B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5369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CDA61-016B-457D-B698-18EE5200A19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04201-FA7E-489A-A835-1B0701B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770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BCDA61-016B-457D-B698-18EE5200A19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FE04201-FA7E-489A-A835-1B0701B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119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BDBAB-DFF0-2A74-77A5-2C8B52BEC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en-US" dirty="0"/>
              <a:t>Hybrid Telco Churn and Geospatial Risk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4E5FB-70C7-69A9-A3C1-13DAD2A98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5221637"/>
            <a:ext cx="3429000" cy="82005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Sikawura Kobina Ebo Arkorful April 2026 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5" name="Picture 4" descr="Blue and orange gradient with arrows">
            <a:extLst>
              <a:ext uri="{FF2B5EF4-FFF2-40B4-BE49-F238E27FC236}">
                <a16:creationId xmlns:a16="http://schemas.microsoft.com/office/drawing/2014/main" id="{FE74C52E-B1D2-0C2D-8FF6-CD2CD0065A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83" r="3" b="3"/>
          <a:stretch>
            <a:fillRect/>
          </a:stretch>
        </p:blipFill>
        <p:spPr>
          <a:xfrm>
            <a:off x="677334" y="1930400"/>
            <a:ext cx="8673495" cy="320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675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241804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9143A8-569B-7423-5947-F99704838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816638"/>
            <a:ext cx="3367359" cy="5224724"/>
          </a:xfrm>
        </p:spPr>
        <p:txBody>
          <a:bodyPr anchor="ctr">
            <a:normAutofit/>
          </a:bodyPr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94B31-80A2-77F2-C6F4-4FD4D1EB5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816638"/>
            <a:ext cx="4619706" cy="5224724"/>
          </a:xfrm>
        </p:spPr>
        <p:txBody>
          <a:bodyPr anchor="ctr">
            <a:normAutofit/>
          </a:bodyPr>
          <a:lstStyle/>
          <a:p>
            <a:r>
              <a:rPr lang="en-US" dirty="0"/>
              <a:t>Executive Summary</a:t>
            </a:r>
          </a:p>
          <a:p>
            <a:r>
              <a:rPr lang="en-US" dirty="0"/>
              <a:t>Understanding Churn</a:t>
            </a:r>
          </a:p>
          <a:p>
            <a:r>
              <a:rPr lang="en-US" dirty="0"/>
              <a:t>The Hybrid Solution &amp; Methodology</a:t>
            </a:r>
          </a:p>
          <a:p>
            <a:r>
              <a:rPr lang="en-US" dirty="0"/>
              <a:t>Validating the Hybrid Model</a:t>
            </a:r>
          </a:p>
          <a:p>
            <a:r>
              <a:rPr lang="en-US" dirty="0"/>
              <a:t>Strategic Recommendations &amp; Next Steps</a:t>
            </a:r>
          </a:p>
        </p:txBody>
      </p:sp>
    </p:spTree>
    <p:extLst>
      <p:ext uri="{BB962C8B-B14F-4D97-AF65-F5344CB8AC3E}">
        <p14:creationId xmlns:p14="http://schemas.microsoft.com/office/powerpoint/2010/main" val="1283285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4F57DB1C-6494-4CC4-A5E8-931957565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FFFB778B-5206-4BB0-A468-327E71367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6C0471D-BE03-4D81-BDB5-D510BC0D8A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53379" y="0"/>
            <a:ext cx="5438621" cy="6857999"/>
          </a:xfrm>
          <a:custGeom>
            <a:avLst/>
            <a:gdLst>
              <a:gd name="connsiteX0" fmla="*/ 0 w 5438621"/>
              <a:gd name="connsiteY0" fmla="*/ 0 h 6857999"/>
              <a:gd name="connsiteX1" fmla="*/ 573774 w 5438621"/>
              <a:gd name="connsiteY1" fmla="*/ 0 h 6857999"/>
              <a:gd name="connsiteX2" fmla="*/ 1182808 w 5438621"/>
              <a:gd name="connsiteY2" fmla="*/ 0 h 6857999"/>
              <a:gd name="connsiteX3" fmla="*/ 4537195 w 5438621"/>
              <a:gd name="connsiteY3" fmla="*/ 0 h 6857999"/>
              <a:gd name="connsiteX4" fmla="*/ 5187609 w 5438621"/>
              <a:gd name="connsiteY4" fmla="*/ 0 h 6857999"/>
              <a:gd name="connsiteX5" fmla="*/ 5438621 w 5438621"/>
              <a:gd name="connsiteY5" fmla="*/ 0 h 6857999"/>
              <a:gd name="connsiteX6" fmla="*/ 5438621 w 5438621"/>
              <a:gd name="connsiteY6" fmla="*/ 6857999 h 6857999"/>
              <a:gd name="connsiteX7" fmla="*/ 4802807 w 5438621"/>
              <a:gd name="connsiteY7" fmla="*/ 6857999 h 6857999"/>
              <a:gd name="connsiteX8" fmla="*/ 4537195 w 5438621"/>
              <a:gd name="connsiteY8" fmla="*/ 6857999 h 6857999"/>
              <a:gd name="connsiteX9" fmla="*/ 1182808 w 5438621"/>
              <a:gd name="connsiteY9" fmla="*/ 6857999 h 6857999"/>
              <a:gd name="connsiteX10" fmla="*/ 1049897 w 5438621"/>
              <a:gd name="connsiteY10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38621" h="6857999">
                <a:moveTo>
                  <a:pt x="0" y="0"/>
                </a:moveTo>
                <a:lnTo>
                  <a:pt x="573774" y="0"/>
                </a:lnTo>
                <a:lnTo>
                  <a:pt x="1182808" y="0"/>
                </a:lnTo>
                <a:lnTo>
                  <a:pt x="4537195" y="0"/>
                </a:lnTo>
                <a:lnTo>
                  <a:pt x="5187609" y="0"/>
                </a:lnTo>
                <a:lnTo>
                  <a:pt x="5438621" y="0"/>
                </a:lnTo>
                <a:lnTo>
                  <a:pt x="5438621" y="6857999"/>
                </a:lnTo>
                <a:lnTo>
                  <a:pt x="4802807" y="6857999"/>
                </a:lnTo>
                <a:lnTo>
                  <a:pt x="4537195" y="6857999"/>
                </a:lnTo>
                <a:lnTo>
                  <a:pt x="1182808" y="6857999"/>
                </a:lnTo>
                <a:lnTo>
                  <a:pt x="1049897" y="685799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2721A85-1EA4-4D87-97AB-0BB4AB78F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78143" y="0"/>
            <a:ext cx="860630" cy="6857999"/>
          </a:xfrm>
          <a:prstGeom prst="line">
            <a:avLst/>
          </a:prstGeom>
          <a:ln w="15875" cap="sq">
            <a:solidFill>
              <a:schemeClr val="accent1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5E836EB-03CD-4BA5-A751-21D2ACC28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453743" y="3483429"/>
            <a:ext cx="6738258" cy="3374570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F5D46035-76B4-52E0-4B55-0170E18FAC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4654" y="1892300"/>
            <a:ext cx="3425445" cy="3073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1" algn="l">
              <a:lnSpc>
                <a:spcPct val="90000"/>
              </a:lnSpc>
            </a:pPr>
            <a:r>
              <a:rPr lang="en-US" sz="1700">
                <a:solidFill>
                  <a:srgbClr val="FFFFFF"/>
                </a:solidFill>
              </a:rPr>
              <a:t>The Hybrid Telco Churn model improved churn prediction by integrating local infrastructure health (Signal and Outages) with  traditional billing data. The Hybrid approach  achieved an ROC-AUC score of 84%, proven that poor service quality is a ‘silent’ driver of customer loss.</a:t>
            </a:r>
          </a:p>
          <a:p>
            <a:pPr algn="l">
              <a:lnSpc>
                <a:spcPct val="90000"/>
              </a:lnSpc>
            </a:pPr>
            <a:endParaRPr lang="en-US" sz="1700">
              <a:solidFill>
                <a:srgbClr val="FFFFFF"/>
              </a:solidFill>
            </a:endParaRPr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A27691EB-14CF-4237-B5EB-C94B92677A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349404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BEFD28-16DA-64B0-6F6F-58D07E1E3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734" y="854529"/>
            <a:ext cx="5799665" cy="514894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b="1"/>
              <a:t>Executive Summary</a:t>
            </a:r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3972270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967A-9027-E491-142C-870D5F550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en-US" b="1" dirty="0"/>
              <a:t>Understanding Churn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05266-E6BC-B254-0C16-FFBD4F0DB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957349" cy="3749323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dirty="0"/>
              <a:t>Why Traditional Churn Models Are Incomplete.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The standard models only look at </a:t>
            </a:r>
            <a:r>
              <a:rPr lang="en-US" i="1" dirty="0"/>
              <a:t>what</a:t>
            </a:r>
            <a:r>
              <a:rPr lang="en-US" dirty="0"/>
              <a:t> customers pay (contracts/charges) and underplay the significance of network stability and outages.</a:t>
            </a:r>
          </a:p>
          <a:p>
            <a:pPr lvl="1">
              <a:lnSpc>
                <a:spcPct val="90000"/>
              </a:lnSpc>
            </a:pPr>
            <a:r>
              <a:rPr lang="en-US" b="1" dirty="0"/>
              <a:t>The Gap:</a:t>
            </a:r>
            <a:r>
              <a:rPr lang="en-US" dirty="0"/>
              <a:t> They ignore the </a:t>
            </a:r>
            <a:r>
              <a:rPr lang="en-US" i="1" dirty="0"/>
              <a:t>physical environment</a:t>
            </a:r>
            <a:r>
              <a:rPr lang="en-US" dirty="0"/>
              <a:t> (signal strength and outages).</a:t>
            </a:r>
          </a:p>
          <a:p>
            <a:pPr lvl="1">
              <a:lnSpc>
                <a:spcPct val="90000"/>
              </a:lnSpc>
            </a:pPr>
            <a:r>
              <a:rPr lang="en-US" b="1" dirty="0"/>
              <a:t>The Density Plot, as shown on the right,</a:t>
            </a:r>
            <a:r>
              <a:rPr lang="en-US" dirty="0"/>
              <a:t>  proves that poor signal quality is a leading cause of customer frustration.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C1104F-6707-8DB3-D97A-CC1D62961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137" y="2159330"/>
            <a:ext cx="4204989" cy="3311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059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F314E-1B67-F2F4-A9FB-64DD1FBAA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6047" y="609600"/>
            <a:ext cx="6487955" cy="1320800"/>
          </a:xfrm>
        </p:spPr>
        <p:txBody>
          <a:bodyPr>
            <a:normAutofit/>
          </a:bodyPr>
          <a:lstStyle/>
          <a:p>
            <a:r>
              <a:rPr lang="en-US" b="1"/>
              <a:t>The Hybrid Solution &amp; Methodology</a:t>
            </a:r>
            <a:endParaRPr lang="en-US"/>
          </a:p>
        </p:txBody>
      </p:sp>
      <p:pic>
        <p:nvPicPr>
          <p:cNvPr id="23" name="Picture 22" descr="Person pointing on a map">
            <a:extLst>
              <a:ext uri="{FF2B5EF4-FFF2-40B4-BE49-F238E27FC236}">
                <a16:creationId xmlns:a16="http://schemas.microsoft.com/office/drawing/2014/main" id="{EC1475FA-4174-A43C-E498-6F78713333D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</a:blip>
          <a:srcRect l="31227" r="44645" b="9090"/>
          <a:stretch>
            <a:fillRect/>
          </a:stretch>
        </p:blipFill>
        <p:spPr>
          <a:xfrm>
            <a:off x="20" y="10"/>
            <a:ext cx="2734036" cy="6876278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842596" y="6858000"/>
                </a:lnTo>
                <a:lnTo>
                  <a:pt x="0" y="1191846"/>
                </a:lnTo>
                <a:close/>
              </a:path>
            </a:pathLst>
          </a:custGeom>
        </p:spPr>
      </p:pic>
      <p:sp>
        <p:nvSpPr>
          <p:cNvPr id="112" name="Isosceles Triangle 111">
            <a:extLst>
              <a:ext uri="{FF2B5EF4-FFF2-40B4-BE49-F238E27FC236}">
                <a16:creationId xmlns:a16="http://schemas.microsoft.com/office/drawing/2014/main" id="{68EE4C72-F2C4-48C0-A42A-6D8069047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1191846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9DE8D-CEB9-6B3E-6FE0-37B26D96A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6047" y="2160589"/>
            <a:ext cx="6487955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Mapping the "Geospatial Risk" Layer.</a:t>
            </a:r>
          </a:p>
          <a:p>
            <a:pPr lvl="1"/>
            <a:r>
              <a:rPr lang="en-US" b="1" dirty="0"/>
              <a:t>Data Enrichment:</a:t>
            </a:r>
            <a:r>
              <a:rPr lang="en-US" dirty="0"/>
              <a:t> I didn’t just look at customer profiles; I added a  Signal Stability Index. This maps physical infrastructure health directly to the individual account</a:t>
            </a:r>
          </a:p>
          <a:p>
            <a:pPr lvl="1"/>
            <a:r>
              <a:rPr lang="en-US" b="1" dirty="0"/>
              <a:t>Feature Engineering: I used a </a:t>
            </a:r>
            <a:r>
              <a:rPr lang="en-US" dirty="0"/>
              <a:t>Random Forest model. </a:t>
            </a:r>
          </a:p>
          <a:p>
            <a:pPr lvl="1"/>
            <a:r>
              <a:rPr lang="en-US" dirty="0"/>
              <a:t>The model identifies "Double Jeopardy" customers—those on flexible contracts who </a:t>
            </a:r>
            <a:r>
              <a:rPr lang="en-US" i="1" dirty="0"/>
              <a:t>also</a:t>
            </a:r>
            <a:r>
              <a:rPr lang="en-US" dirty="0"/>
              <a:t> live in high-outage ZIP codes.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857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2E5CC-150E-FC29-E86F-7B94E708E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5" y="609599"/>
            <a:ext cx="8354959" cy="1194523"/>
          </a:xfrm>
        </p:spPr>
        <p:txBody>
          <a:bodyPr anchor="ctr">
            <a:normAutofit/>
          </a:bodyPr>
          <a:lstStyle/>
          <a:p>
            <a:r>
              <a:rPr lang="en-US" sz="4400" dirty="0"/>
              <a:t>Validating the Hybrid Model </a:t>
            </a:r>
            <a:br>
              <a:rPr lang="en-US" dirty="0"/>
            </a:br>
            <a:r>
              <a:rPr lang="en-US" sz="2800" dirty="0"/>
              <a:t>I. </a:t>
            </a:r>
            <a:r>
              <a:rPr lang="en-US" sz="2800" b="1" dirty="0"/>
              <a:t>ROC-AUC of 0.84</a:t>
            </a:r>
            <a:r>
              <a:rPr lang="en-US" sz="2800" dirty="0"/>
              <a:t> and 80% accuracy.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43767-2767-AB98-5D78-89738991E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167" y="2160589"/>
            <a:ext cx="3720916" cy="356073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EAB214B-3178-7096-5422-E9AEB11A8F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1059151"/>
              </p:ext>
            </p:extLst>
          </p:nvPr>
        </p:nvGraphicFramePr>
        <p:xfrm>
          <a:off x="4854223" y="2160589"/>
          <a:ext cx="5400119" cy="3917199"/>
        </p:xfrm>
        <a:graphic>
          <a:graphicData uri="http://schemas.openxmlformats.org/drawingml/2006/table">
            <a:tbl>
              <a:tblPr firstRow="1" firstCol="1" bandRow="1">
                <a:solidFill>
                  <a:srgbClr val="F2F2F2">
                    <a:alpha val="30196"/>
                  </a:srgbClr>
                </a:solidFill>
                <a:tableStyleId>{5C22544A-7EE6-4342-B048-85BDC9FD1C3A}</a:tableStyleId>
              </a:tblPr>
              <a:tblGrid>
                <a:gridCol w="1853571">
                  <a:extLst>
                    <a:ext uri="{9D8B030D-6E8A-4147-A177-3AD203B41FA5}">
                      <a16:colId xmlns:a16="http://schemas.microsoft.com/office/drawing/2014/main" val="3570520228"/>
                    </a:ext>
                  </a:extLst>
                </a:gridCol>
                <a:gridCol w="835302">
                  <a:extLst>
                    <a:ext uri="{9D8B030D-6E8A-4147-A177-3AD203B41FA5}">
                      <a16:colId xmlns:a16="http://schemas.microsoft.com/office/drawing/2014/main" val="1623630565"/>
                    </a:ext>
                  </a:extLst>
                </a:gridCol>
                <a:gridCol w="2711246">
                  <a:extLst>
                    <a:ext uri="{9D8B030D-6E8A-4147-A177-3AD203B41FA5}">
                      <a16:colId xmlns:a16="http://schemas.microsoft.com/office/drawing/2014/main" val="4192083227"/>
                    </a:ext>
                  </a:extLst>
                </a:gridCol>
              </a:tblGrid>
              <a:tr h="48019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0" kern="100" cap="none" spc="0">
                          <a:solidFill>
                            <a:schemeClr val="bg1"/>
                          </a:solidFill>
                          <a:effectLst/>
                        </a:rPr>
                        <a:t>Metric</a:t>
                      </a:r>
                      <a:endParaRPr lang="en-US" sz="1300" b="0" kern="100" cap="none" spc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633" marR="60530" marT="86641" marB="86641" anchor="ctr">
                    <a:lnL w="19050" cap="flat" cmpd="sng" algn="ctr">
                      <a:noFill/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0" kern="100" cap="none" spc="0">
                          <a:solidFill>
                            <a:schemeClr val="bg1"/>
                          </a:solidFill>
                          <a:effectLst/>
                        </a:rPr>
                        <a:t>Score</a:t>
                      </a:r>
                      <a:endParaRPr lang="en-US" sz="1300" b="0" kern="100" cap="none" spc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633" marR="60530" marT="86641" marB="8664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0" kern="100" cap="none" spc="0">
                          <a:solidFill>
                            <a:schemeClr val="bg1"/>
                          </a:solidFill>
                          <a:effectLst/>
                        </a:rPr>
                        <a:t>Interpretation</a:t>
                      </a:r>
                      <a:endParaRPr lang="en-US" sz="1300" b="0" kern="100" cap="none" spc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633" marR="60530" marT="86641" marB="8664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591456"/>
                  </a:ext>
                </a:extLst>
              </a:tr>
              <a:tr h="7834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cap="none" spc="0">
                          <a:solidFill>
                            <a:schemeClr val="tx1"/>
                          </a:solidFill>
                          <a:effectLst/>
                        </a:rPr>
                        <a:t>Accuracy</a:t>
                      </a:r>
                      <a:endParaRPr lang="en-US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633" marR="60530" marT="86641" marB="86641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80%</a:t>
                      </a:r>
                      <a:endParaRPr lang="en-US" sz="130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633" marR="60530" marT="86641" marB="86641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High overall predictive reliability.</a:t>
                      </a:r>
                      <a:endParaRPr lang="en-US" sz="130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633" marR="60530" marT="86641" marB="86641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318575"/>
                  </a:ext>
                </a:extLst>
              </a:tr>
              <a:tr h="7834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cap="none" spc="0">
                          <a:solidFill>
                            <a:schemeClr val="tx1"/>
                          </a:solidFill>
                          <a:effectLst/>
                        </a:rPr>
                        <a:t>ROC-AUC</a:t>
                      </a:r>
                      <a:endParaRPr lang="en-US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633" marR="60530" marT="86641" marB="86641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cap="none" spc="0">
                          <a:solidFill>
                            <a:schemeClr val="tx1"/>
                          </a:solidFill>
                          <a:effectLst/>
                        </a:rPr>
                        <a:t>0.84</a:t>
                      </a:r>
                      <a:endParaRPr lang="en-US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633" marR="60530" marT="86641" marB="86641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Excellent ability to distinguish churn risk tiers.</a:t>
                      </a:r>
                      <a:endParaRPr lang="en-US" sz="130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633" marR="60530" marT="86641" marB="86641">
                    <a:lnL w="635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7073894"/>
                  </a:ext>
                </a:extLst>
              </a:tr>
              <a:tr h="7834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cap="none" spc="0">
                          <a:solidFill>
                            <a:schemeClr val="tx1"/>
                          </a:solidFill>
                          <a:effectLst/>
                        </a:rPr>
                        <a:t>Precision (Churn)</a:t>
                      </a:r>
                      <a:endParaRPr lang="en-US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633" marR="60530" marT="86641" marB="86641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cap="none" spc="0">
                          <a:solidFill>
                            <a:schemeClr val="tx1"/>
                          </a:solidFill>
                          <a:effectLst/>
                        </a:rPr>
                        <a:t>0.66</a:t>
                      </a:r>
                      <a:endParaRPr lang="en-US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633" marR="60530" marT="86641" marB="86641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2 out of 3 "at-risk" flags are accurate hits.</a:t>
                      </a:r>
                      <a:endParaRPr lang="en-US" sz="130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633" marR="60530" marT="86641" marB="86641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32607"/>
                  </a:ext>
                </a:extLst>
              </a:tr>
              <a:tr h="108668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cap="none" spc="0">
                          <a:solidFill>
                            <a:schemeClr val="tx1"/>
                          </a:solidFill>
                          <a:effectLst/>
                        </a:rPr>
                        <a:t>Recall (Churn)</a:t>
                      </a:r>
                      <a:endParaRPr lang="en-US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633" marR="60530" marT="86641" marB="86641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cap="none" spc="0">
                          <a:solidFill>
                            <a:schemeClr val="tx1"/>
                          </a:solidFill>
                          <a:effectLst/>
                        </a:rPr>
                        <a:t>0.49</a:t>
                      </a:r>
                      <a:endParaRPr lang="en-US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633" marR="60530" marT="86641" marB="86641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Successfully captured nearly half of all actual churners.</a:t>
                      </a:r>
                      <a:endParaRPr lang="en-US" sz="130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633" marR="60530" marT="86641" marB="86641">
                    <a:lnL w="635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56499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C31799E5-8626-84FD-0CA5-73E90C8FB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26" y="2160590"/>
            <a:ext cx="4216791" cy="391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226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6A761A44-A936-4382-8A16-7ED6A2903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459EE73-661E-48AA-A374-BF2B850F58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653EA91-5E43-427F-B0AB-1B8A496BC6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57571081-E136-40F9-B123-3A16F53BEB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73197C11-EFC2-4F71-BEFF-B7EE3EEFF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074C7561-7217-4DBC-8C63-2BB8560D6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6EB4E4EC-EA7F-4A46-9AF5-7E3E4E543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9048D13B-C50D-4EF9-AB6D-86713B7D43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8213FFC7-C869-40A9-8DBD-B311B342E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A029FB91-93F5-4D40-9014-8D5108951E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F6022FD2-DE49-41E6-B3BF-B113018CA2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91BB3A5-AB7B-FC48-99B4-C5BA35143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921" y="1986727"/>
            <a:ext cx="3179146" cy="23675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2600" b="1" dirty="0"/>
              <a:t>II. The Confusion Matrix</a:t>
            </a:r>
            <a:r>
              <a:rPr lang="en-US" sz="2600" dirty="0"/>
              <a:t> shows the "Hit Rate" for churners.</a:t>
            </a:r>
            <a:br>
              <a:rPr lang="en-US" sz="2600" dirty="0"/>
            </a:br>
            <a:endParaRPr lang="en-US" sz="2600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72CE066-DF97-4C55-9917-67390D2F9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174" y="1270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E4FB5AC-42A6-CCCB-1B58-DD634151B7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358" b="4"/>
          <a:stretch>
            <a:fillRect/>
          </a:stretch>
        </p:blipFill>
        <p:spPr>
          <a:xfrm>
            <a:off x="4281585" y="1262351"/>
            <a:ext cx="4973212" cy="433534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01585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0BCA4-97EE-C2CF-052A-0B9E5904D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5" y="1234440"/>
            <a:ext cx="4528458" cy="377836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100" b="1" dirty="0"/>
              <a:t>III. The feature Importance plot points</a:t>
            </a:r>
            <a:r>
              <a:rPr lang="en-US" sz="3100" dirty="0"/>
              <a:t> out that the Signal Stability Index is a Top 5 driver, proving that infrastructure is a "silent" driver of churn.</a:t>
            </a:r>
            <a:br>
              <a:rPr lang="en-US" sz="1600" dirty="0"/>
            </a:br>
            <a:endParaRPr lang="en-US" sz="16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EBB4F68-466D-927F-016A-D4B554A17B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83630" y="1421137"/>
            <a:ext cx="4528458" cy="359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265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241804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760EBC6-AAE1-4627-8579-57921DEBC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816638"/>
            <a:ext cx="3367359" cy="5224724"/>
          </a:xfrm>
        </p:spPr>
        <p:txBody>
          <a:bodyPr anchor="ctr">
            <a:normAutofit/>
          </a:bodyPr>
          <a:lstStyle/>
          <a:p>
            <a:r>
              <a:rPr lang="en-US" sz="2800" b="1" dirty="0"/>
              <a:t>Strategic Recommendations &amp; Next Steps</a:t>
            </a:r>
            <a:endParaRPr lang="en-US" sz="2800" dirty="0"/>
          </a:p>
        </p:txBody>
      </p:sp>
      <p:graphicFrame>
        <p:nvGraphicFramePr>
          <p:cNvPr id="49" name="Content Placeholder 2">
            <a:extLst>
              <a:ext uri="{FF2B5EF4-FFF2-40B4-BE49-F238E27FC236}">
                <a16:creationId xmlns:a16="http://schemas.microsoft.com/office/drawing/2014/main" id="{85F38CEB-BB66-7FAF-61CC-DA8FB2B2770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654295" y="816638"/>
          <a:ext cx="4619706" cy="52247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93387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B384DE-EF1F-635E-CD45-4D178C212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bg1"/>
                </a:solidFill>
              </a:rPr>
              <a:t>I end my presentation with this: </a:t>
            </a:r>
            <a:r>
              <a:rPr lang="en-US" sz="2000" i="1" dirty="0">
                <a:solidFill>
                  <a:schemeClr val="bg1"/>
                </a:solidFill>
              </a:rPr>
              <a:t>"Data-driven infrastructure leads to customer-driven loyalty".</a:t>
            </a:r>
            <a:br>
              <a:rPr lang="en-US" sz="2000" dirty="0">
                <a:solidFill>
                  <a:schemeClr val="bg1"/>
                </a:solidFill>
              </a:rPr>
            </a:b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584BD-1005-9159-831E-C07E7EB17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344011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Thank you!</a:t>
            </a:r>
          </a:p>
        </p:txBody>
      </p:sp>
      <p:pic>
        <p:nvPicPr>
          <p:cNvPr id="7" name="Graphic 6" descr="Business Growth">
            <a:extLst>
              <a:ext uri="{FF2B5EF4-FFF2-40B4-BE49-F238E27FC236}">
                <a16:creationId xmlns:a16="http://schemas.microsoft.com/office/drawing/2014/main" id="{28A3A65B-3F63-7406-11E8-209290C856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17616" y="972608"/>
            <a:ext cx="4900269" cy="4900269"/>
          </a:xfrm>
          <a:prstGeom prst="rect">
            <a:avLst/>
          </a:prstGeom>
        </p:spPr>
      </p:pic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1856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Facet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1559</TotalTime>
  <Words>379</Words>
  <Application>Microsoft Office PowerPoint</Application>
  <PresentationFormat>Widescreen</PresentationFormat>
  <Paragraphs>48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Trebuchet MS</vt:lpstr>
      <vt:lpstr>Wingdings 3</vt:lpstr>
      <vt:lpstr>Facet</vt:lpstr>
      <vt:lpstr>Hybrid Telco Churn and Geospatial Risk Analysis</vt:lpstr>
      <vt:lpstr>Content</vt:lpstr>
      <vt:lpstr>Executive Summary</vt:lpstr>
      <vt:lpstr>Understanding Churn</vt:lpstr>
      <vt:lpstr>The Hybrid Solution &amp; Methodology</vt:lpstr>
      <vt:lpstr>Validating the Hybrid Model  I. ROC-AUC of 0.84 and 80% accuracy.</vt:lpstr>
      <vt:lpstr>II. The Confusion Matrix shows the "Hit Rate" for churners. </vt:lpstr>
      <vt:lpstr>III. The feature Importance plot points out that the Signal Stability Index is a Top 5 driver, proving that infrastructure is a "silent" driver of churn. </vt:lpstr>
      <vt:lpstr>Strategic Recommendations &amp; Next Steps</vt:lpstr>
      <vt:lpstr>I end my presentation with this: "Data-driven infrastructure leads to customer-driven loyalty".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ARKORFUL S. KOBINA EBO</dc:creator>
  <cp:lastModifiedBy>ARKORFUL S. KOBINA EBO</cp:lastModifiedBy>
  <cp:revision>3</cp:revision>
  <dcterms:created xsi:type="dcterms:W3CDTF">2026-04-06T22:48:33Z</dcterms:created>
  <dcterms:modified xsi:type="dcterms:W3CDTF">2026-04-10T05:34:43Z</dcterms:modified>
</cp:coreProperties>
</file>